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8BF5"/>
    <a:srgbClr val="9A6DF3"/>
    <a:srgbClr val="8F45F1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D9F775-FBA8-4B5A-BC97-E26CCD1518B4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17E157C-0C95-4B3A-8C9E-6844A41E18E1}">
      <dgm:prSet phldrT="[Text]" phldr="0"/>
      <dgm:spPr>
        <a:solidFill>
          <a:srgbClr val="8F45F1"/>
        </a:solidFill>
      </dgm:spPr>
      <dgm:t>
        <a:bodyPr/>
        <a:lstStyle/>
        <a:p>
          <a:r>
            <a:rPr lang="en-IN" b="1" dirty="0"/>
            <a:t>🎯 </a:t>
          </a:r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Business Problem</a:t>
          </a:r>
          <a:endParaRPr lang="en-IN" b="1" dirty="0"/>
        </a:p>
      </dgm:t>
    </dgm:pt>
    <dgm:pt modelId="{CFF9A022-D2BF-42FE-99D4-A7E917D9D999}" type="parTrans" cxnId="{01C542C2-80EB-4980-B89F-8F09364090D2}">
      <dgm:prSet/>
      <dgm:spPr/>
      <dgm:t>
        <a:bodyPr/>
        <a:lstStyle/>
        <a:p>
          <a:endParaRPr lang="en-IN" b="1"/>
        </a:p>
      </dgm:t>
    </dgm:pt>
    <dgm:pt modelId="{6E5AA4B8-85A7-42FF-9E2A-0AC2D130E040}" type="sibTrans" cxnId="{01C542C2-80EB-4980-B89F-8F09364090D2}">
      <dgm:prSet/>
      <dgm:spPr/>
      <dgm:t>
        <a:bodyPr/>
        <a:lstStyle/>
        <a:p>
          <a:endParaRPr lang="en-IN" b="1"/>
        </a:p>
      </dgm:t>
    </dgm:pt>
    <dgm:pt modelId="{755A8BC8-6E10-4B65-BDC2-648E276B580F}">
      <dgm:prSet phldrT="[Text]"/>
      <dgm:spPr>
        <a:solidFill>
          <a:srgbClr val="8F45F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✔  Data Validation &amp; </a:t>
          </a:r>
          <a:r>
            <a:rPr lang="en-IN" b="1" dirty="0"/>
            <a:t>🧹 </a:t>
          </a:r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Cleaning</a:t>
          </a:r>
          <a:endParaRPr lang="en-IN" b="1" dirty="0"/>
        </a:p>
      </dgm:t>
    </dgm:pt>
    <dgm:pt modelId="{6D544ADC-C697-4EED-88AF-A659E40F9832}" type="parTrans" cxnId="{ED499DCA-2049-4991-A455-80C5DE110D47}">
      <dgm:prSet/>
      <dgm:spPr/>
      <dgm:t>
        <a:bodyPr/>
        <a:lstStyle/>
        <a:p>
          <a:endParaRPr lang="en-IN" b="1"/>
        </a:p>
      </dgm:t>
    </dgm:pt>
    <dgm:pt modelId="{1D099A3F-A9EE-4D07-B4E4-EE5BF8C5660C}" type="sibTrans" cxnId="{ED499DCA-2049-4991-A455-80C5DE110D47}">
      <dgm:prSet/>
      <dgm:spPr/>
      <dgm:t>
        <a:bodyPr/>
        <a:lstStyle/>
        <a:p>
          <a:endParaRPr lang="en-IN" b="1"/>
        </a:p>
      </dgm:t>
    </dgm:pt>
    <dgm:pt modelId="{2EDD7B0A-CCD9-4FE4-A839-BDA500FB0F90}">
      <dgm:prSet phldrT="[Text]"/>
      <dgm:spPr>
        <a:solidFill>
          <a:srgbClr val="8F45F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Data Analysis</a:t>
          </a:r>
          <a:endParaRPr lang="en-IN" b="1" dirty="0"/>
        </a:p>
      </dgm:t>
    </dgm:pt>
    <dgm:pt modelId="{DC85A75D-9BEC-40D6-BD23-0127728C8C73}" type="parTrans" cxnId="{1DC9A64C-DA74-450A-AFFD-E412B9ED6D09}">
      <dgm:prSet/>
      <dgm:spPr/>
      <dgm:t>
        <a:bodyPr/>
        <a:lstStyle/>
        <a:p>
          <a:endParaRPr lang="en-IN" b="1"/>
        </a:p>
      </dgm:t>
    </dgm:pt>
    <dgm:pt modelId="{A7CCEE4F-A09D-44A9-8EAC-1C71D273AE10}" type="sibTrans" cxnId="{1DC9A64C-DA74-450A-AFFD-E412B9ED6D09}">
      <dgm:prSet/>
      <dgm:spPr/>
      <dgm:t>
        <a:bodyPr/>
        <a:lstStyle/>
        <a:p>
          <a:endParaRPr lang="en-IN" b="1"/>
        </a:p>
      </dgm:t>
    </dgm:pt>
    <dgm:pt modelId="{083BE5C5-68A2-42D5-85D2-9888EF72AC0F}">
      <dgm:prSet phldrT="[Text]"/>
      <dgm:spPr>
        <a:solidFill>
          <a:srgbClr val="8F45F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📊  Dashboard</a:t>
          </a:r>
          <a:endParaRPr lang="en-IN" b="1" dirty="0"/>
        </a:p>
      </dgm:t>
    </dgm:pt>
    <dgm:pt modelId="{6F16F86B-D8EF-42AC-8636-35E71DEB6BAE}" type="parTrans" cxnId="{FFFB4937-801B-4BC4-B840-D71FCE4B99E6}">
      <dgm:prSet/>
      <dgm:spPr/>
      <dgm:t>
        <a:bodyPr/>
        <a:lstStyle/>
        <a:p>
          <a:endParaRPr lang="en-IN" b="1"/>
        </a:p>
      </dgm:t>
    </dgm:pt>
    <dgm:pt modelId="{E255C220-90CE-4212-B97D-201F6E3D351F}" type="sibTrans" cxnId="{FFFB4937-801B-4BC4-B840-D71FCE4B99E6}">
      <dgm:prSet/>
      <dgm:spPr/>
      <dgm:t>
        <a:bodyPr/>
        <a:lstStyle/>
        <a:p>
          <a:endParaRPr lang="en-IN" b="1"/>
        </a:p>
      </dgm:t>
    </dgm:pt>
    <dgm:pt modelId="{3086D0AF-B3DA-4620-A9C3-1F405777D53A}">
      <dgm:prSet phldrT="[Text]"/>
      <dgm:spPr>
        <a:solidFill>
          <a:srgbClr val="8F45F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🚀  Recommendations</a:t>
          </a:r>
          <a:endParaRPr lang="en-IN" b="1" dirty="0"/>
        </a:p>
      </dgm:t>
    </dgm:pt>
    <dgm:pt modelId="{5BD9A768-DAD3-4BE1-9E7A-2F8569798576}" type="parTrans" cxnId="{CE30AB95-D48D-4F92-967C-6EB7E7C1F951}">
      <dgm:prSet/>
      <dgm:spPr/>
      <dgm:t>
        <a:bodyPr/>
        <a:lstStyle/>
        <a:p>
          <a:endParaRPr lang="en-IN" b="1"/>
        </a:p>
      </dgm:t>
    </dgm:pt>
    <dgm:pt modelId="{0014F44A-20F4-41C1-B04B-B1A8032DEAC4}" type="sibTrans" cxnId="{CE30AB95-D48D-4F92-967C-6EB7E7C1F951}">
      <dgm:prSet/>
      <dgm:spPr/>
      <dgm:t>
        <a:bodyPr/>
        <a:lstStyle/>
        <a:p>
          <a:endParaRPr lang="en-IN" b="1"/>
        </a:p>
      </dgm:t>
    </dgm:pt>
    <dgm:pt modelId="{4692124A-16E7-4A77-BE7C-3F486088555E}">
      <dgm:prSet phldrT="[Text]"/>
      <dgm:spPr>
        <a:solidFill>
          <a:srgbClr val="8F45F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💡  Insights</a:t>
          </a:r>
          <a:endParaRPr lang="en-IN" b="1" dirty="0"/>
        </a:p>
      </dgm:t>
    </dgm:pt>
    <dgm:pt modelId="{E9DDA102-82B0-4812-9AFB-C6DBC6A0F108}" type="parTrans" cxnId="{0F398685-B6A2-4D41-BD75-10418273979F}">
      <dgm:prSet/>
      <dgm:spPr/>
      <dgm:t>
        <a:bodyPr/>
        <a:lstStyle/>
        <a:p>
          <a:endParaRPr lang="en-IN" b="1"/>
        </a:p>
      </dgm:t>
    </dgm:pt>
    <dgm:pt modelId="{C69E6133-4586-4454-934F-B4C44BF700D6}" type="sibTrans" cxnId="{0F398685-B6A2-4D41-BD75-10418273979F}">
      <dgm:prSet/>
      <dgm:spPr/>
      <dgm:t>
        <a:bodyPr/>
        <a:lstStyle/>
        <a:p>
          <a:endParaRPr lang="en-IN" b="1"/>
        </a:p>
      </dgm:t>
    </dgm:pt>
    <dgm:pt modelId="{C4CA26B8-2B93-4C21-AD23-EF843E2F7C51}" type="pres">
      <dgm:prSet presAssocID="{4FD9F775-FBA8-4B5A-BC97-E26CCD1518B4}" presName="Name0" presStyleCnt="0">
        <dgm:presLayoutVars>
          <dgm:dir/>
          <dgm:resizeHandles val="exact"/>
        </dgm:presLayoutVars>
      </dgm:prSet>
      <dgm:spPr/>
    </dgm:pt>
    <dgm:pt modelId="{400B165F-46C3-491E-8E88-CB1331EC6FC1}" type="pres">
      <dgm:prSet presAssocID="{E17E157C-0C95-4B3A-8C9E-6844A41E18E1}" presName="node" presStyleLbl="node1" presStyleIdx="0" presStyleCnt="6">
        <dgm:presLayoutVars>
          <dgm:bulletEnabled val="1"/>
        </dgm:presLayoutVars>
      </dgm:prSet>
      <dgm:spPr/>
    </dgm:pt>
    <dgm:pt modelId="{87CFB9D8-AEEE-4A82-92E5-C7BD7FF5EEA9}" type="pres">
      <dgm:prSet presAssocID="{6E5AA4B8-85A7-42FF-9E2A-0AC2D130E040}" presName="sibTrans" presStyleLbl="sibTrans1D1" presStyleIdx="0" presStyleCnt="5"/>
      <dgm:spPr/>
    </dgm:pt>
    <dgm:pt modelId="{A5DD910B-F88B-4123-A14B-78B8E9E7F3DD}" type="pres">
      <dgm:prSet presAssocID="{6E5AA4B8-85A7-42FF-9E2A-0AC2D130E040}" presName="connectorText" presStyleLbl="sibTrans1D1" presStyleIdx="0" presStyleCnt="5"/>
      <dgm:spPr/>
    </dgm:pt>
    <dgm:pt modelId="{5EB40102-FB79-46F0-824F-B3A28DAF2062}" type="pres">
      <dgm:prSet presAssocID="{755A8BC8-6E10-4B65-BDC2-648E276B580F}" presName="node" presStyleLbl="node1" presStyleIdx="1" presStyleCnt="6">
        <dgm:presLayoutVars>
          <dgm:bulletEnabled val="1"/>
        </dgm:presLayoutVars>
      </dgm:prSet>
      <dgm:spPr/>
    </dgm:pt>
    <dgm:pt modelId="{32C32957-764A-4DFD-981E-6A476C2D648B}" type="pres">
      <dgm:prSet presAssocID="{1D099A3F-A9EE-4D07-B4E4-EE5BF8C5660C}" presName="sibTrans" presStyleLbl="sibTrans1D1" presStyleIdx="1" presStyleCnt="5"/>
      <dgm:spPr/>
    </dgm:pt>
    <dgm:pt modelId="{DD5960A9-DE31-4192-96AA-AE67B2CD2F99}" type="pres">
      <dgm:prSet presAssocID="{1D099A3F-A9EE-4D07-B4E4-EE5BF8C5660C}" presName="connectorText" presStyleLbl="sibTrans1D1" presStyleIdx="1" presStyleCnt="5"/>
      <dgm:spPr/>
    </dgm:pt>
    <dgm:pt modelId="{2923B1D9-54D7-49AF-8C92-60FB779BC6DA}" type="pres">
      <dgm:prSet presAssocID="{2EDD7B0A-CCD9-4FE4-A839-BDA500FB0F90}" presName="node" presStyleLbl="node1" presStyleIdx="2" presStyleCnt="6">
        <dgm:presLayoutVars>
          <dgm:bulletEnabled val="1"/>
        </dgm:presLayoutVars>
      </dgm:prSet>
      <dgm:spPr/>
    </dgm:pt>
    <dgm:pt modelId="{CC9144AE-7824-480C-9D50-BC1B884502B5}" type="pres">
      <dgm:prSet presAssocID="{A7CCEE4F-A09D-44A9-8EAC-1C71D273AE10}" presName="sibTrans" presStyleLbl="sibTrans1D1" presStyleIdx="2" presStyleCnt="5"/>
      <dgm:spPr/>
    </dgm:pt>
    <dgm:pt modelId="{3538DC0B-E228-4B2D-9331-AA2B3CB768CE}" type="pres">
      <dgm:prSet presAssocID="{A7CCEE4F-A09D-44A9-8EAC-1C71D273AE10}" presName="connectorText" presStyleLbl="sibTrans1D1" presStyleIdx="2" presStyleCnt="5"/>
      <dgm:spPr/>
    </dgm:pt>
    <dgm:pt modelId="{F8B43B15-E17E-4888-9883-4981F61BAC1A}" type="pres">
      <dgm:prSet presAssocID="{083BE5C5-68A2-42D5-85D2-9888EF72AC0F}" presName="node" presStyleLbl="node1" presStyleIdx="3" presStyleCnt="6">
        <dgm:presLayoutVars>
          <dgm:bulletEnabled val="1"/>
        </dgm:presLayoutVars>
      </dgm:prSet>
      <dgm:spPr/>
    </dgm:pt>
    <dgm:pt modelId="{DEC7E1CA-C92D-418A-87ED-CC8EDB5A9CE1}" type="pres">
      <dgm:prSet presAssocID="{E255C220-90CE-4212-B97D-201F6E3D351F}" presName="sibTrans" presStyleLbl="sibTrans1D1" presStyleIdx="3" presStyleCnt="5"/>
      <dgm:spPr/>
    </dgm:pt>
    <dgm:pt modelId="{CD9D6F97-A0C7-4F44-98FB-3ABE3B8A3FA1}" type="pres">
      <dgm:prSet presAssocID="{E255C220-90CE-4212-B97D-201F6E3D351F}" presName="connectorText" presStyleLbl="sibTrans1D1" presStyleIdx="3" presStyleCnt="5"/>
      <dgm:spPr/>
    </dgm:pt>
    <dgm:pt modelId="{E9FF858A-6936-4B02-900B-8E3BE524281E}" type="pres">
      <dgm:prSet presAssocID="{4692124A-16E7-4A77-BE7C-3F486088555E}" presName="node" presStyleLbl="node1" presStyleIdx="4" presStyleCnt="6">
        <dgm:presLayoutVars>
          <dgm:bulletEnabled val="1"/>
        </dgm:presLayoutVars>
      </dgm:prSet>
      <dgm:spPr/>
    </dgm:pt>
    <dgm:pt modelId="{87365668-077C-47FB-B21F-F92FD3064A92}" type="pres">
      <dgm:prSet presAssocID="{C69E6133-4586-4454-934F-B4C44BF700D6}" presName="sibTrans" presStyleLbl="sibTrans1D1" presStyleIdx="4" presStyleCnt="5"/>
      <dgm:spPr/>
    </dgm:pt>
    <dgm:pt modelId="{783E6B7A-D4D0-4C76-BAAB-C7682DB6F519}" type="pres">
      <dgm:prSet presAssocID="{C69E6133-4586-4454-934F-B4C44BF700D6}" presName="connectorText" presStyleLbl="sibTrans1D1" presStyleIdx="4" presStyleCnt="5"/>
      <dgm:spPr/>
    </dgm:pt>
    <dgm:pt modelId="{437FF520-B1DA-4EE7-B77C-D36B2BE01F8C}" type="pres">
      <dgm:prSet presAssocID="{3086D0AF-B3DA-4620-A9C3-1F405777D53A}" presName="node" presStyleLbl="node1" presStyleIdx="5" presStyleCnt="6">
        <dgm:presLayoutVars>
          <dgm:bulletEnabled val="1"/>
        </dgm:presLayoutVars>
      </dgm:prSet>
      <dgm:spPr/>
    </dgm:pt>
  </dgm:ptLst>
  <dgm:cxnLst>
    <dgm:cxn modelId="{E5B07D16-E100-43FB-86FD-9F35D2F7E869}" type="presOf" srcId="{6E5AA4B8-85A7-42FF-9E2A-0AC2D130E040}" destId="{A5DD910B-F88B-4123-A14B-78B8E9E7F3DD}" srcOrd="1" destOrd="0" presId="urn:microsoft.com/office/officeart/2005/8/layout/bProcess3"/>
    <dgm:cxn modelId="{52A71E2E-EE39-4F78-8704-ECAFB7C5DC1B}" type="presOf" srcId="{3086D0AF-B3DA-4620-A9C3-1F405777D53A}" destId="{437FF520-B1DA-4EE7-B77C-D36B2BE01F8C}" srcOrd="0" destOrd="0" presId="urn:microsoft.com/office/officeart/2005/8/layout/bProcess3"/>
    <dgm:cxn modelId="{95202C32-26C4-47EA-80CB-941CE2FB1DDE}" type="presOf" srcId="{755A8BC8-6E10-4B65-BDC2-648E276B580F}" destId="{5EB40102-FB79-46F0-824F-B3A28DAF2062}" srcOrd="0" destOrd="0" presId="urn:microsoft.com/office/officeart/2005/8/layout/bProcess3"/>
    <dgm:cxn modelId="{FFFB4937-801B-4BC4-B840-D71FCE4B99E6}" srcId="{4FD9F775-FBA8-4B5A-BC97-E26CCD1518B4}" destId="{083BE5C5-68A2-42D5-85D2-9888EF72AC0F}" srcOrd="3" destOrd="0" parTransId="{6F16F86B-D8EF-42AC-8636-35E71DEB6BAE}" sibTransId="{E255C220-90CE-4212-B97D-201F6E3D351F}"/>
    <dgm:cxn modelId="{32B91D41-2189-4FB2-848F-A7379AE1B94E}" type="presOf" srcId="{A7CCEE4F-A09D-44A9-8EAC-1C71D273AE10}" destId="{CC9144AE-7824-480C-9D50-BC1B884502B5}" srcOrd="0" destOrd="0" presId="urn:microsoft.com/office/officeart/2005/8/layout/bProcess3"/>
    <dgm:cxn modelId="{D2EC0964-5608-4849-8241-400F85AF4B6C}" type="presOf" srcId="{4FD9F775-FBA8-4B5A-BC97-E26CCD1518B4}" destId="{C4CA26B8-2B93-4C21-AD23-EF843E2F7C51}" srcOrd="0" destOrd="0" presId="urn:microsoft.com/office/officeart/2005/8/layout/bProcess3"/>
    <dgm:cxn modelId="{1DC9A64C-DA74-450A-AFFD-E412B9ED6D09}" srcId="{4FD9F775-FBA8-4B5A-BC97-E26CCD1518B4}" destId="{2EDD7B0A-CCD9-4FE4-A839-BDA500FB0F90}" srcOrd="2" destOrd="0" parTransId="{DC85A75D-9BEC-40D6-BD23-0127728C8C73}" sibTransId="{A7CCEE4F-A09D-44A9-8EAC-1C71D273AE10}"/>
    <dgm:cxn modelId="{D2DA2378-5FC4-41D9-AAC1-536DC2BF8EAC}" type="presOf" srcId="{A7CCEE4F-A09D-44A9-8EAC-1C71D273AE10}" destId="{3538DC0B-E228-4B2D-9331-AA2B3CB768CE}" srcOrd="1" destOrd="0" presId="urn:microsoft.com/office/officeart/2005/8/layout/bProcess3"/>
    <dgm:cxn modelId="{47AF0C5A-7CA6-47F0-ABF3-30293FCFFF2C}" type="presOf" srcId="{E255C220-90CE-4212-B97D-201F6E3D351F}" destId="{CD9D6F97-A0C7-4F44-98FB-3ABE3B8A3FA1}" srcOrd="1" destOrd="0" presId="urn:microsoft.com/office/officeart/2005/8/layout/bProcess3"/>
    <dgm:cxn modelId="{C224B57A-0C01-494C-8895-FB80B0C51B3E}" type="presOf" srcId="{E17E157C-0C95-4B3A-8C9E-6844A41E18E1}" destId="{400B165F-46C3-491E-8E88-CB1331EC6FC1}" srcOrd="0" destOrd="0" presId="urn:microsoft.com/office/officeart/2005/8/layout/bProcess3"/>
    <dgm:cxn modelId="{A232D77B-C4F6-4EF5-9458-5AAE94F8453A}" type="presOf" srcId="{083BE5C5-68A2-42D5-85D2-9888EF72AC0F}" destId="{F8B43B15-E17E-4888-9883-4981F61BAC1A}" srcOrd="0" destOrd="0" presId="urn:microsoft.com/office/officeart/2005/8/layout/bProcess3"/>
    <dgm:cxn modelId="{0F398685-B6A2-4D41-BD75-10418273979F}" srcId="{4FD9F775-FBA8-4B5A-BC97-E26CCD1518B4}" destId="{4692124A-16E7-4A77-BE7C-3F486088555E}" srcOrd="4" destOrd="0" parTransId="{E9DDA102-82B0-4812-9AFB-C6DBC6A0F108}" sibTransId="{C69E6133-4586-4454-934F-B4C44BF700D6}"/>
    <dgm:cxn modelId="{CE30AB95-D48D-4F92-967C-6EB7E7C1F951}" srcId="{4FD9F775-FBA8-4B5A-BC97-E26CCD1518B4}" destId="{3086D0AF-B3DA-4620-A9C3-1F405777D53A}" srcOrd="5" destOrd="0" parTransId="{5BD9A768-DAD3-4BE1-9E7A-2F8569798576}" sibTransId="{0014F44A-20F4-41C1-B04B-B1A8032DEAC4}"/>
    <dgm:cxn modelId="{B4BB0FA5-D6E2-47C5-A3D1-B25468F15D0F}" type="presOf" srcId="{E255C220-90CE-4212-B97D-201F6E3D351F}" destId="{DEC7E1CA-C92D-418A-87ED-CC8EDB5A9CE1}" srcOrd="0" destOrd="0" presId="urn:microsoft.com/office/officeart/2005/8/layout/bProcess3"/>
    <dgm:cxn modelId="{84C4DDBE-D32A-4D46-807A-0EBEC78AF756}" type="presOf" srcId="{1D099A3F-A9EE-4D07-B4E4-EE5BF8C5660C}" destId="{32C32957-764A-4DFD-981E-6A476C2D648B}" srcOrd="0" destOrd="0" presId="urn:microsoft.com/office/officeart/2005/8/layout/bProcess3"/>
    <dgm:cxn modelId="{01C542C2-80EB-4980-B89F-8F09364090D2}" srcId="{4FD9F775-FBA8-4B5A-BC97-E26CCD1518B4}" destId="{E17E157C-0C95-4B3A-8C9E-6844A41E18E1}" srcOrd="0" destOrd="0" parTransId="{CFF9A022-D2BF-42FE-99D4-A7E917D9D999}" sibTransId="{6E5AA4B8-85A7-42FF-9E2A-0AC2D130E040}"/>
    <dgm:cxn modelId="{ED499DCA-2049-4991-A455-80C5DE110D47}" srcId="{4FD9F775-FBA8-4B5A-BC97-E26CCD1518B4}" destId="{755A8BC8-6E10-4B65-BDC2-648E276B580F}" srcOrd="1" destOrd="0" parTransId="{6D544ADC-C697-4EED-88AF-A659E40F9832}" sibTransId="{1D099A3F-A9EE-4D07-B4E4-EE5BF8C5660C}"/>
    <dgm:cxn modelId="{A1F4B4D1-B256-405C-9F6C-6C45A26F527E}" type="presOf" srcId="{C69E6133-4586-4454-934F-B4C44BF700D6}" destId="{87365668-077C-47FB-B21F-F92FD3064A92}" srcOrd="0" destOrd="0" presId="urn:microsoft.com/office/officeart/2005/8/layout/bProcess3"/>
    <dgm:cxn modelId="{47F467E4-10F8-4C13-A547-A0DE9E008838}" type="presOf" srcId="{2EDD7B0A-CCD9-4FE4-A839-BDA500FB0F90}" destId="{2923B1D9-54D7-49AF-8C92-60FB779BC6DA}" srcOrd="0" destOrd="0" presId="urn:microsoft.com/office/officeart/2005/8/layout/bProcess3"/>
    <dgm:cxn modelId="{1CB4C3E6-E6AA-4375-8438-BAD6D54D51EB}" type="presOf" srcId="{C69E6133-4586-4454-934F-B4C44BF700D6}" destId="{783E6B7A-D4D0-4C76-BAAB-C7682DB6F519}" srcOrd="1" destOrd="0" presId="urn:microsoft.com/office/officeart/2005/8/layout/bProcess3"/>
    <dgm:cxn modelId="{B127E8EF-CEFC-423B-8EF4-39DD77289755}" type="presOf" srcId="{4692124A-16E7-4A77-BE7C-3F486088555E}" destId="{E9FF858A-6936-4B02-900B-8E3BE524281E}" srcOrd="0" destOrd="0" presId="urn:microsoft.com/office/officeart/2005/8/layout/bProcess3"/>
    <dgm:cxn modelId="{72DFCDF1-77D3-4EA8-A1B2-BA7AE2AE0115}" type="presOf" srcId="{1D099A3F-A9EE-4D07-B4E4-EE5BF8C5660C}" destId="{DD5960A9-DE31-4192-96AA-AE67B2CD2F99}" srcOrd="1" destOrd="0" presId="urn:microsoft.com/office/officeart/2005/8/layout/bProcess3"/>
    <dgm:cxn modelId="{05A850F5-5F32-4F22-B195-5FCE5BFA52A0}" type="presOf" srcId="{6E5AA4B8-85A7-42FF-9E2A-0AC2D130E040}" destId="{87CFB9D8-AEEE-4A82-92E5-C7BD7FF5EEA9}" srcOrd="0" destOrd="0" presId="urn:microsoft.com/office/officeart/2005/8/layout/bProcess3"/>
    <dgm:cxn modelId="{E1CCB1D2-AFEC-4CF1-B5FC-BB331EC58CA5}" type="presParOf" srcId="{C4CA26B8-2B93-4C21-AD23-EF843E2F7C51}" destId="{400B165F-46C3-491E-8E88-CB1331EC6FC1}" srcOrd="0" destOrd="0" presId="urn:microsoft.com/office/officeart/2005/8/layout/bProcess3"/>
    <dgm:cxn modelId="{4A5E5E2C-9DA0-4CC3-BDED-4C305B877EDB}" type="presParOf" srcId="{C4CA26B8-2B93-4C21-AD23-EF843E2F7C51}" destId="{87CFB9D8-AEEE-4A82-92E5-C7BD7FF5EEA9}" srcOrd="1" destOrd="0" presId="urn:microsoft.com/office/officeart/2005/8/layout/bProcess3"/>
    <dgm:cxn modelId="{9F964741-5645-4750-865C-16E7A364E84E}" type="presParOf" srcId="{87CFB9D8-AEEE-4A82-92E5-C7BD7FF5EEA9}" destId="{A5DD910B-F88B-4123-A14B-78B8E9E7F3DD}" srcOrd="0" destOrd="0" presId="urn:microsoft.com/office/officeart/2005/8/layout/bProcess3"/>
    <dgm:cxn modelId="{C3922A93-F339-4909-A6A7-E46E9C2CBF39}" type="presParOf" srcId="{C4CA26B8-2B93-4C21-AD23-EF843E2F7C51}" destId="{5EB40102-FB79-46F0-824F-B3A28DAF2062}" srcOrd="2" destOrd="0" presId="urn:microsoft.com/office/officeart/2005/8/layout/bProcess3"/>
    <dgm:cxn modelId="{C759C708-A6A7-40C2-9C92-66B923DF6B11}" type="presParOf" srcId="{C4CA26B8-2B93-4C21-AD23-EF843E2F7C51}" destId="{32C32957-764A-4DFD-981E-6A476C2D648B}" srcOrd="3" destOrd="0" presId="urn:microsoft.com/office/officeart/2005/8/layout/bProcess3"/>
    <dgm:cxn modelId="{D0FFC347-797E-43CC-A1AE-56059F21214E}" type="presParOf" srcId="{32C32957-764A-4DFD-981E-6A476C2D648B}" destId="{DD5960A9-DE31-4192-96AA-AE67B2CD2F99}" srcOrd="0" destOrd="0" presId="urn:microsoft.com/office/officeart/2005/8/layout/bProcess3"/>
    <dgm:cxn modelId="{796CBD04-F92A-4F1E-826B-144148075984}" type="presParOf" srcId="{C4CA26B8-2B93-4C21-AD23-EF843E2F7C51}" destId="{2923B1D9-54D7-49AF-8C92-60FB779BC6DA}" srcOrd="4" destOrd="0" presId="urn:microsoft.com/office/officeart/2005/8/layout/bProcess3"/>
    <dgm:cxn modelId="{1B148E59-0E7B-49E1-8D35-0ACBBA08B676}" type="presParOf" srcId="{C4CA26B8-2B93-4C21-AD23-EF843E2F7C51}" destId="{CC9144AE-7824-480C-9D50-BC1B884502B5}" srcOrd="5" destOrd="0" presId="urn:microsoft.com/office/officeart/2005/8/layout/bProcess3"/>
    <dgm:cxn modelId="{90BEF34B-0FA5-43EF-85FA-4B7F5DF3F30C}" type="presParOf" srcId="{CC9144AE-7824-480C-9D50-BC1B884502B5}" destId="{3538DC0B-E228-4B2D-9331-AA2B3CB768CE}" srcOrd="0" destOrd="0" presId="urn:microsoft.com/office/officeart/2005/8/layout/bProcess3"/>
    <dgm:cxn modelId="{08D73D15-2182-4A8D-B337-9D1D41200664}" type="presParOf" srcId="{C4CA26B8-2B93-4C21-AD23-EF843E2F7C51}" destId="{F8B43B15-E17E-4888-9883-4981F61BAC1A}" srcOrd="6" destOrd="0" presId="urn:microsoft.com/office/officeart/2005/8/layout/bProcess3"/>
    <dgm:cxn modelId="{560ADF7B-4186-4FD3-A0CA-EC10D36BA80F}" type="presParOf" srcId="{C4CA26B8-2B93-4C21-AD23-EF843E2F7C51}" destId="{DEC7E1CA-C92D-418A-87ED-CC8EDB5A9CE1}" srcOrd="7" destOrd="0" presId="urn:microsoft.com/office/officeart/2005/8/layout/bProcess3"/>
    <dgm:cxn modelId="{0C3557EE-B711-4D6D-A4BB-E9F9FAFC6462}" type="presParOf" srcId="{DEC7E1CA-C92D-418A-87ED-CC8EDB5A9CE1}" destId="{CD9D6F97-A0C7-4F44-98FB-3ABE3B8A3FA1}" srcOrd="0" destOrd="0" presId="urn:microsoft.com/office/officeart/2005/8/layout/bProcess3"/>
    <dgm:cxn modelId="{0A21116D-DC10-4C36-B49B-29E47832B755}" type="presParOf" srcId="{C4CA26B8-2B93-4C21-AD23-EF843E2F7C51}" destId="{E9FF858A-6936-4B02-900B-8E3BE524281E}" srcOrd="8" destOrd="0" presId="urn:microsoft.com/office/officeart/2005/8/layout/bProcess3"/>
    <dgm:cxn modelId="{F46E3909-EA35-4CB7-AC82-A4D7C9B1D7E9}" type="presParOf" srcId="{C4CA26B8-2B93-4C21-AD23-EF843E2F7C51}" destId="{87365668-077C-47FB-B21F-F92FD3064A92}" srcOrd="9" destOrd="0" presId="urn:microsoft.com/office/officeart/2005/8/layout/bProcess3"/>
    <dgm:cxn modelId="{15D2932A-6E3D-4F48-BFDF-4B49F44B3BC2}" type="presParOf" srcId="{87365668-077C-47FB-B21F-F92FD3064A92}" destId="{783E6B7A-D4D0-4C76-BAAB-C7682DB6F519}" srcOrd="0" destOrd="0" presId="urn:microsoft.com/office/officeart/2005/8/layout/bProcess3"/>
    <dgm:cxn modelId="{AAFECD94-98AF-4864-824C-B1A65316334B}" type="presParOf" srcId="{C4CA26B8-2B93-4C21-AD23-EF843E2F7C51}" destId="{437FF520-B1DA-4EE7-B77C-D36B2BE01F8C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FB9D8-AEEE-4A82-92E5-C7BD7FF5EEA9}">
      <dsp:nvSpPr>
        <dsp:cNvPr id="0" name=""/>
        <dsp:cNvSpPr/>
      </dsp:nvSpPr>
      <dsp:spPr>
        <a:xfrm>
          <a:off x="3786530" y="673999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4033116" y="716963"/>
        <a:ext cx="27566" cy="5513"/>
      </dsp:txXfrm>
    </dsp:sp>
    <dsp:sp modelId="{400B165F-46C3-491E-8E88-CB1331EC6FC1}">
      <dsp:nvSpPr>
        <dsp:cNvPr id="0" name=""/>
        <dsp:cNvSpPr/>
      </dsp:nvSpPr>
      <dsp:spPr>
        <a:xfrm>
          <a:off x="1391205" y="582"/>
          <a:ext cx="2397125" cy="1438275"/>
        </a:xfrm>
        <a:prstGeom prst="rect">
          <a:avLst/>
        </a:prstGeom>
        <a:solidFill>
          <a:srgbClr val="8F45F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🎯 </a:t>
          </a: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Business Problem</a:t>
          </a:r>
          <a:endParaRPr lang="en-IN" sz="1700" b="1" kern="1200" dirty="0"/>
        </a:p>
      </dsp:txBody>
      <dsp:txXfrm>
        <a:off x="1391205" y="582"/>
        <a:ext cx="2397125" cy="1438275"/>
      </dsp:txXfrm>
    </dsp:sp>
    <dsp:sp modelId="{32C32957-764A-4DFD-981E-6A476C2D648B}">
      <dsp:nvSpPr>
        <dsp:cNvPr id="0" name=""/>
        <dsp:cNvSpPr/>
      </dsp:nvSpPr>
      <dsp:spPr>
        <a:xfrm>
          <a:off x="2589768" y="1437057"/>
          <a:ext cx="2948463" cy="520738"/>
        </a:xfrm>
        <a:custGeom>
          <a:avLst/>
          <a:gdLst/>
          <a:ahLst/>
          <a:cxnLst/>
          <a:rect l="0" t="0" r="0" b="0"/>
          <a:pathLst>
            <a:path>
              <a:moveTo>
                <a:pt x="2948463" y="0"/>
              </a:moveTo>
              <a:lnTo>
                <a:pt x="2948463" y="277469"/>
              </a:lnTo>
              <a:lnTo>
                <a:pt x="0" y="277469"/>
              </a:lnTo>
              <a:lnTo>
                <a:pt x="0" y="52073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3989010" y="1694669"/>
        <a:ext cx="149978" cy="5513"/>
      </dsp:txXfrm>
    </dsp:sp>
    <dsp:sp modelId="{5EB40102-FB79-46F0-824F-B3A28DAF2062}">
      <dsp:nvSpPr>
        <dsp:cNvPr id="0" name=""/>
        <dsp:cNvSpPr/>
      </dsp:nvSpPr>
      <dsp:spPr>
        <a:xfrm>
          <a:off x="4339669" y="582"/>
          <a:ext cx="2397125" cy="1438275"/>
        </a:xfrm>
        <a:prstGeom prst="rect">
          <a:avLst/>
        </a:prstGeom>
        <a:solidFill>
          <a:srgbClr val="8F45F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✔  Data Validation &amp; </a:t>
          </a:r>
          <a:r>
            <a:rPr lang="en-IN" sz="1700" b="1" kern="1200" dirty="0"/>
            <a:t>🧹 </a:t>
          </a: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Cleaning</a:t>
          </a:r>
          <a:endParaRPr lang="en-IN" sz="1700" b="1" kern="1200" dirty="0"/>
        </a:p>
      </dsp:txBody>
      <dsp:txXfrm>
        <a:off x="4339669" y="582"/>
        <a:ext cx="2397125" cy="1438275"/>
      </dsp:txXfrm>
    </dsp:sp>
    <dsp:sp modelId="{CC9144AE-7824-480C-9D50-BC1B884502B5}">
      <dsp:nvSpPr>
        <dsp:cNvPr id="0" name=""/>
        <dsp:cNvSpPr/>
      </dsp:nvSpPr>
      <dsp:spPr>
        <a:xfrm>
          <a:off x="3786530" y="2663613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4033116" y="2706576"/>
        <a:ext cx="27566" cy="5513"/>
      </dsp:txXfrm>
    </dsp:sp>
    <dsp:sp modelId="{2923B1D9-54D7-49AF-8C92-60FB779BC6DA}">
      <dsp:nvSpPr>
        <dsp:cNvPr id="0" name=""/>
        <dsp:cNvSpPr/>
      </dsp:nvSpPr>
      <dsp:spPr>
        <a:xfrm>
          <a:off x="1391205" y="1990196"/>
          <a:ext cx="2397125" cy="1438275"/>
        </a:xfrm>
        <a:prstGeom prst="rect">
          <a:avLst/>
        </a:prstGeom>
        <a:solidFill>
          <a:srgbClr val="8F45F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Data Analysis</a:t>
          </a:r>
          <a:endParaRPr lang="en-IN" sz="1700" b="1" kern="1200" dirty="0"/>
        </a:p>
      </dsp:txBody>
      <dsp:txXfrm>
        <a:off x="1391205" y="1990196"/>
        <a:ext cx="2397125" cy="1438275"/>
      </dsp:txXfrm>
    </dsp:sp>
    <dsp:sp modelId="{DEC7E1CA-C92D-418A-87ED-CC8EDB5A9CE1}">
      <dsp:nvSpPr>
        <dsp:cNvPr id="0" name=""/>
        <dsp:cNvSpPr/>
      </dsp:nvSpPr>
      <dsp:spPr>
        <a:xfrm>
          <a:off x="2589768" y="3426671"/>
          <a:ext cx="2948463" cy="520738"/>
        </a:xfrm>
        <a:custGeom>
          <a:avLst/>
          <a:gdLst/>
          <a:ahLst/>
          <a:cxnLst/>
          <a:rect l="0" t="0" r="0" b="0"/>
          <a:pathLst>
            <a:path>
              <a:moveTo>
                <a:pt x="2948463" y="0"/>
              </a:moveTo>
              <a:lnTo>
                <a:pt x="2948463" y="277469"/>
              </a:lnTo>
              <a:lnTo>
                <a:pt x="0" y="277469"/>
              </a:lnTo>
              <a:lnTo>
                <a:pt x="0" y="52073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3989010" y="3684283"/>
        <a:ext cx="149978" cy="5513"/>
      </dsp:txXfrm>
    </dsp:sp>
    <dsp:sp modelId="{F8B43B15-E17E-4888-9883-4981F61BAC1A}">
      <dsp:nvSpPr>
        <dsp:cNvPr id="0" name=""/>
        <dsp:cNvSpPr/>
      </dsp:nvSpPr>
      <dsp:spPr>
        <a:xfrm>
          <a:off x="4339669" y="1990196"/>
          <a:ext cx="2397125" cy="1438275"/>
        </a:xfrm>
        <a:prstGeom prst="rect">
          <a:avLst/>
        </a:prstGeom>
        <a:solidFill>
          <a:srgbClr val="8F45F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📊  Dashboard</a:t>
          </a:r>
          <a:endParaRPr lang="en-IN" sz="1700" b="1" kern="1200" dirty="0"/>
        </a:p>
      </dsp:txBody>
      <dsp:txXfrm>
        <a:off x="4339669" y="1990196"/>
        <a:ext cx="2397125" cy="1438275"/>
      </dsp:txXfrm>
    </dsp:sp>
    <dsp:sp modelId="{87365668-077C-47FB-B21F-F92FD3064A92}">
      <dsp:nvSpPr>
        <dsp:cNvPr id="0" name=""/>
        <dsp:cNvSpPr/>
      </dsp:nvSpPr>
      <dsp:spPr>
        <a:xfrm>
          <a:off x="3786530" y="4653227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4033116" y="4696190"/>
        <a:ext cx="27566" cy="5513"/>
      </dsp:txXfrm>
    </dsp:sp>
    <dsp:sp modelId="{E9FF858A-6936-4B02-900B-8E3BE524281E}">
      <dsp:nvSpPr>
        <dsp:cNvPr id="0" name=""/>
        <dsp:cNvSpPr/>
      </dsp:nvSpPr>
      <dsp:spPr>
        <a:xfrm>
          <a:off x="1391205" y="3979809"/>
          <a:ext cx="2397125" cy="1438275"/>
        </a:xfrm>
        <a:prstGeom prst="rect">
          <a:avLst/>
        </a:prstGeom>
        <a:solidFill>
          <a:srgbClr val="8F45F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💡  Insights</a:t>
          </a:r>
          <a:endParaRPr lang="en-IN" sz="1700" b="1" kern="1200" dirty="0"/>
        </a:p>
      </dsp:txBody>
      <dsp:txXfrm>
        <a:off x="1391205" y="3979809"/>
        <a:ext cx="2397125" cy="1438275"/>
      </dsp:txXfrm>
    </dsp:sp>
    <dsp:sp modelId="{437FF520-B1DA-4EE7-B77C-D36B2BE01F8C}">
      <dsp:nvSpPr>
        <dsp:cNvPr id="0" name=""/>
        <dsp:cNvSpPr/>
      </dsp:nvSpPr>
      <dsp:spPr>
        <a:xfrm>
          <a:off x="4339669" y="3979809"/>
          <a:ext cx="2397125" cy="1438275"/>
        </a:xfrm>
        <a:prstGeom prst="rect">
          <a:avLst/>
        </a:prstGeom>
        <a:solidFill>
          <a:srgbClr val="8F45F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🚀  Recommendations</a:t>
          </a:r>
          <a:endParaRPr lang="en-IN" sz="1700" b="1" kern="1200" dirty="0"/>
        </a:p>
      </dsp:txBody>
      <dsp:txXfrm>
        <a:off x="4339669" y="3979809"/>
        <a:ext cx="2397125" cy="1438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0892-5FA7-E7EE-4E7B-D0A6B559E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685E4-D060-4933-A87E-520C14E5C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65AC4-99B0-8962-4077-79590844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A6AB3-EAC1-FFCD-76CB-7EB456AA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E80EC-0416-0934-3236-59D783AF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55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22FB-B6E0-3680-4AFE-ABBA2A1E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B49A-99D7-BE3C-1F55-7DE4D5070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37A8C-C7CB-B416-43AC-C26E6397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8499-23AC-AA5D-E4FD-414401AE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7569-ACD7-5FC2-3B46-461B870D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5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9474-DAEF-8716-1FC2-EEF50F88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41C17-4CC9-BA09-6F99-9184B7608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DF366-261D-999A-ECE8-EB2DC3CC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A33C-2F3C-2305-E06A-EC3CB9AC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D2FFF-EC54-6A1C-3A8B-3AC82A29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14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E45F-2DFC-1AA2-B189-45F7ABBA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EB010-5037-85F4-3A82-80265DDA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A3700-816B-687D-FA6C-ED540A090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43C7C-7225-E114-D767-27282DCD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0F797-3334-4D3C-F2D6-4DEBB497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7600D-A0B4-C766-F746-DF9CD52E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8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1744-11BA-43D7-62E5-ACF348A0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D5D22-535D-B4AF-E41F-1F5969A06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3E081-13EB-D1BE-2740-52E5B8358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48CE6-E818-AE78-41A5-D0EB4C29F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8639C-46D0-1265-5D7F-6992D6E62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F1CFE-537C-3B7A-8404-C21D8158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3D34D-C4BA-D42E-EFF7-A09846A0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21D8A-766E-B968-BCC4-F4566710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4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5EC6-8A98-0AEB-594D-86EDDA5E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83A6A-7A6B-59B8-4781-DD9EF96C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1994B-980C-CB69-277D-3BE618CE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B6CEA-39D2-AD81-678B-4AE6294B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69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474E3-5F5F-F357-BDF9-046831FA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9EF84-6BC8-16CD-6CD8-3CDB36BC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86682-F031-C66C-E4A2-AAB3DE48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9B85-006D-2624-F286-D3A20146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61BD-14B5-27C8-29FC-C1C757F19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6D1D-45A4-CF6B-B3A8-B5F1A21B1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AED38-B2F9-6A89-8E6E-730FD43C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D2317-6EAB-6099-BC6A-BBFF3047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93ED7-19A8-4A03-AE3D-B54A9630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09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4ADF-D96D-9E57-2694-ACFB15DD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2BFA7-2921-9D01-3884-13E76D1D6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BF9F-311A-667A-ECBE-4308971E8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6619C-EFFC-F45F-3115-087D2DD0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322BB-B064-0EE6-B3F4-46BD5A30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AC749-6DAB-1C0B-1CBF-0CF3A1D7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22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5CF0-ED3E-FB18-80E0-7A4C98E4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744BD-4651-D560-88F4-C6EA4BB90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A945C-5670-6E98-CEA6-C09AEC30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533D7-2C0B-9C25-F8C1-36813F6C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44AB6-A6B3-1E19-89E7-8F4B587F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92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A91E8-F105-C2DB-5161-FFA24E05E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36542-049C-D46A-EEFA-9D52DD326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53D14-E36B-CAE0-8237-AF55859E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A9E61-A25B-85FA-7F1C-3B9166E3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964FD-086F-BB03-E65E-E893D0F2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5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82FBF-C1BF-2268-2D0F-158F18423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894D1-F24F-497A-1F95-E592EC372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90A7-ECB8-B966-C75E-5635A799C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68C26-31CE-44E2-AE0C-F8DCC8AA36B8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95ADC-3D30-437E-6125-8D245CA79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9FDD9-64B7-68AF-4E4E-212AD9006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8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matters.in/article/strategic-hr/how-adp-identified-risk-employee-separations-through-its-hr-audit-13108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9740FD-D0F2-1443-3D0D-75D54286899F}"/>
              </a:ext>
            </a:extLst>
          </p:cNvPr>
          <p:cNvSpPr/>
          <p:nvPr/>
        </p:nvSpPr>
        <p:spPr>
          <a:xfrm>
            <a:off x="0" y="0"/>
            <a:ext cx="12192000" cy="4348480"/>
          </a:xfrm>
          <a:prstGeom prst="rect">
            <a:avLst/>
          </a:prstGeom>
          <a:solidFill>
            <a:srgbClr val="8F45F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470EE-7CC3-9221-511A-99A879F6D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HR Employee Attrition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6C69C-D05C-3EB0-1636-233252AB2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/>
          <a:lstStyle/>
          <a:p>
            <a:r>
              <a:rPr lang="en-IN" dirty="0"/>
              <a:t>Data Analyst Portfolio Project </a:t>
            </a:r>
          </a:p>
          <a:p>
            <a:r>
              <a:rPr lang="en-IN" dirty="0"/>
              <a:t>Utkarsh Bisht </a:t>
            </a:r>
          </a:p>
          <a:p>
            <a:r>
              <a:rPr lang="en-IN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4119283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94B08B-E41B-49FC-10E1-B60A74C96113}"/>
              </a:ext>
            </a:extLst>
          </p:cNvPr>
          <p:cNvSpPr txBox="1"/>
          <p:nvPr/>
        </p:nvSpPr>
        <p:spPr>
          <a:xfrm>
            <a:off x="314960" y="1125696"/>
            <a:ext cx="3576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Analyzing</a:t>
            </a:r>
            <a:r>
              <a:rPr lang="en-IN" sz="2000" dirty="0"/>
              <a:t> employee attrition to identify key factors driving turnover and help HR improve </a:t>
            </a:r>
            <a:r>
              <a:rPr lang="en-IN" sz="2000" b="1" dirty="0"/>
              <a:t>employee retention and workforce planning</a:t>
            </a:r>
            <a:r>
              <a:rPr lang="en-IN" sz="2000" dirty="0"/>
              <a:t>.</a:t>
            </a:r>
            <a:endParaRPr lang="en-IN" sz="20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7D06E8-DAAE-AF5B-EB98-D272F8C4839E}"/>
              </a:ext>
            </a:extLst>
          </p:cNvPr>
          <p:cNvSpPr txBox="1"/>
          <p:nvPr/>
        </p:nvSpPr>
        <p:spPr>
          <a:xfrm>
            <a:off x="314960" y="329644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Business Overview</a:t>
            </a:r>
            <a:endParaRPr lang="en-IN" sz="28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A30F3-E913-146E-59E7-89A5706D1F2E}"/>
              </a:ext>
            </a:extLst>
          </p:cNvPr>
          <p:cNvSpPr txBox="1"/>
          <p:nvPr/>
        </p:nvSpPr>
        <p:spPr>
          <a:xfrm>
            <a:off x="314960" y="3167390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Business Problem</a:t>
            </a:r>
            <a:endParaRPr lang="en-IN" sz="28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6519E-33A9-AEAE-2E6C-BFCE321649F1}"/>
              </a:ext>
            </a:extLst>
          </p:cNvPr>
          <p:cNvSpPr txBox="1"/>
          <p:nvPr/>
        </p:nvSpPr>
        <p:spPr>
          <a:xfrm>
            <a:off x="314960" y="3690610"/>
            <a:ext cx="35763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Identify key factors driving employee attrition.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Find employee groups with higher turnover.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attrition across departments.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 better employee retention decisions.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8B8390-60D2-6CCD-41DB-44B064458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83481" y="598642"/>
            <a:ext cx="7131256" cy="51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0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3D25B4-47C3-665E-CFB9-529FC833BE26}"/>
              </a:ext>
            </a:extLst>
          </p:cNvPr>
          <p:cNvSpPr txBox="1"/>
          <p:nvPr/>
        </p:nvSpPr>
        <p:spPr>
          <a:xfrm>
            <a:off x="4307840" y="306494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P</a:t>
            </a:r>
            <a:r>
              <a:rPr lang="en-IN" sz="2800" b="1" u="sng" dirty="0" err="1"/>
              <a:t>roject</a:t>
            </a:r>
            <a:r>
              <a:rPr lang="en-IN" sz="2800" b="1" u="sng" dirty="0"/>
              <a:t> Workflow</a:t>
            </a:r>
            <a:endParaRPr lang="en-IN" sz="2800" u="sng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7104928-8D96-30C2-12EC-928FE8C96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9693769"/>
              </p:ext>
            </p:extLst>
          </p:nvPr>
        </p:nvGraphicFramePr>
        <p:xfrm>
          <a:off x="2032000" y="113283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Graphic 9" descr="Research with solid fill">
            <a:extLst>
              <a:ext uri="{FF2B5EF4-FFF2-40B4-BE49-F238E27FC236}">
                <a16:creationId xmlns:a16="http://schemas.microsoft.com/office/drawing/2014/main" id="{4443E4DE-B7A8-C46B-7AAC-9D53BC663F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6800" y="3733800"/>
            <a:ext cx="215052" cy="21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4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1089-A142-8BF2-7FBD-D10BE114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B013EE-9EE3-ADDA-525A-464445A3534B}"/>
              </a:ext>
            </a:extLst>
          </p:cNvPr>
          <p:cNvSpPr txBox="1"/>
          <p:nvPr/>
        </p:nvSpPr>
        <p:spPr>
          <a:xfrm>
            <a:off x="2346960" y="1839486"/>
            <a:ext cx="7498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Dataset:</a:t>
            </a:r>
            <a:r>
              <a:rPr lang="en-IN" sz="2000" dirty="0"/>
              <a:t> IBM HR Analytics Employee Attrition &amp; Performance</a:t>
            </a:r>
          </a:p>
          <a:p>
            <a:pPr lvl="0"/>
            <a:r>
              <a:rPr lang="en-IN" sz="20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Records:</a:t>
            </a:r>
            <a:r>
              <a:rPr lang="en-IN" sz="2000" dirty="0"/>
              <a:t> 1,470 employees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Features:</a:t>
            </a:r>
            <a:r>
              <a:rPr lang="en-IN" sz="2000" dirty="0"/>
              <a:t> 35 employee-related attributes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Key variables:</a:t>
            </a:r>
            <a:r>
              <a:rPr lang="en-IN" sz="2000" dirty="0"/>
              <a:t> Age, Monthly Income, Job Satisfaction, Department, Distance From Home, Attrition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Target:</a:t>
            </a:r>
            <a:r>
              <a:rPr lang="en-IN" sz="2000" dirty="0"/>
              <a:t> Employee Attrition (Yes/No)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Purpose:</a:t>
            </a:r>
            <a:r>
              <a:rPr lang="en-IN" sz="2000" dirty="0"/>
              <a:t> </a:t>
            </a:r>
            <a:r>
              <a:rPr lang="en-IN" sz="2000" dirty="0" err="1"/>
              <a:t>Analyze</a:t>
            </a:r>
            <a:r>
              <a:rPr lang="en-IN" sz="2000" dirty="0"/>
              <a:t> factors associated with employee turnover.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E60C2-5926-C156-CF46-E98F3CCC9AB1}"/>
              </a:ext>
            </a:extLst>
          </p:cNvPr>
          <p:cNvSpPr txBox="1"/>
          <p:nvPr/>
        </p:nvSpPr>
        <p:spPr>
          <a:xfrm>
            <a:off x="4307840" y="473621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Dataset Overview</a:t>
            </a:r>
            <a:endParaRPr lang="en-IN" sz="2800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30098F-0814-5DF8-1251-9F119A22AA3D}"/>
              </a:ext>
            </a:extLst>
          </p:cNvPr>
          <p:cNvSpPr/>
          <p:nvPr/>
        </p:nvSpPr>
        <p:spPr>
          <a:xfrm>
            <a:off x="1767840" y="1554479"/>
            <a:ext cx="8610600" cy="44043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59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37DD-6256-7077-BA00-AE6C58A5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40981E-8019-3AE8-8DB5-6BA55E2E61C3}"/>
              </a:ext>
            </a:extLst>
          </p:cNvPr>
          <p:cNvSpPr txBox="1"/>
          <p:nvPr/>
        </p:nvSpPr>
        <p:spPr>
          <a:xfrm>
            <a:off x="5087620" y="207724"/>
            <a:ext cx="2016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Dashboard</a:t>
            </a:r>
            <a:endParaRPr lang="en-IN" sz="2800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0869-B49B-CE7B-4842-AED059D54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63" y="995679"/>
            <a:ext cx="10022273" cy="55111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526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38B2-3139-5F6F-3894-6274F106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CC2C1-8F5C-5E9D-E7F6-06F6B7972F90}"/>
              </a:ext>
            </a:extLst>
          </p:cNvPr>
          <p:cNvSpPr txBox="1"/>
          <p:nvPr/>
        </p:nvSpPr>
        <p:spPr>
          <a:xfrm>
            <a:off x="314960" y="3000216"/>
            <a:ext cx="357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1. Lower job satisfaction is associated with higher employee attrition.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E5726-8A60-9880-3D54-54DABE8B3BF3}"/>
              </a:ext>
            </a:extLst>
          </p:cNvPr>
          <p:cNvSpPr txBox="1"/>
          <p:nvPr/>
        </p:nvSpPr>
        <p:spPr>
          <a:xfrm>
            <a:off x="314960" y="329644"/>
            <a:ext cx="221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Key Findings</a:t>
            </a:r>
            <a:endParaRPr lang="en-IN" sz="28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67164-48AA-BAEB-2F7A-A76EE233B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86" y="975360"/>
            <a:ext cx="7015063" cy="46565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70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C179C-C683-F612-4B94-E9F2585A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A40575-106A-04E2-1A7C-34F61334BAEB}"/>
              </a:ext>
            </a:extLst>
          </p:cNvPr>
          <p:cNvSpPr txBox="1"/>
          <p:nvPr/>
        </p:nvSpPr>
        <p:spPr>
          <a:xfrm>
            <a:off x="314960" y="3000216"/>
            <a:ext cx="357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2. Lower-income employees show relatively higher attrition. 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CEE88-F1F2-6F65-886E-CBF3D68905B0}"/>
              </a:ext>
            </a:extLst>
          </p:cNvPr>
          <p:cNvSpPr txBox="1"/>
          <p:nvPr/>
        </p:nvSpPr>
        <p:spPr>
          <a:xfrm>
            <a:off x="314960" y="329644"/>
            <a:ext cx="221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Key Findings</a:t>
            </a:r>
            <a:endParaRPr lang="en-IN" sz="2800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68D312-EC63-67C5-A777-A1C5622B2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81" y="746976"/>
            <a:ext cx="6431280" cy="45064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7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682C-A02E-FFAB-9E04-68B0E7DBC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65262-DCAA-0640-6D49-E4D84157B205}"/>
              </a:ext>
            </a:extLst>
          </p:cNvPr>
          <p:cNvSpPr txBox="1"/>
          <p:nvPr/>
        </p:nvSpPr>
        <p:spPr>
          <a:xfrm>
            <a:off x="314960" y="3000216"/>
            <a:ext cx="3576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3. Employees living farther from the workplace show higher attrition.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06C08-62BE-E396-16EF-86100ABF9FED}"/>
              </a:ext>
            </a:extLst>
          </p:cNvPr>
          <p:cNvSpPr txBox="1"/>
          <p:nvPr/>
        </p:nvSpPr>
        <p:spPr>
          <a:xfrm>
            <a:off x="314960" y="329644"/>
            <a:ext cx="221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Key Findings</a:t>
            </a:r>
            <a:endParaRPr lang="en-IN" sz="28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AC62B-015C-87FE-39AF-CD00109CF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679756"/>
            <a:ext cx="6974030" cy="504047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535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4D9B-47C0-FB83-9C02-DAD4183F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3D550E-320E-197B-94EF-89039D018B24}"/>
              </a:ext>
            </a:extLst>
          </p:cNvPr>
          <p:cNvSpPr/>
          <p:nvPr/>
        </p:nvSpPr>
        <p:spPr>
          <a:xfrm>
            <a:off x="939800" y="1417320"/>
            <a:ext cx="3962400" cy="2133600"/>
          </a:xfrm>
          <a:prstGeom prst="rect">
            <a:avLst/>
          </a:prstGeom>
          <a:solidFill>
            <a:srgbClr val="AE8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A7B36-98AF-D6BD-7F72-A5A44ACA25B3}"/>
              </a:ext>
            </a:extLst>
          </p:cNvPr>
          <p:cNvSpPr txBox="1"/>
          <p:nvPr/>
        </p:nvSpPr>
        <p:spPr>
          <a:xfrm>
            <a:off x="1087120" y="1643856"/>
            <a:ext cx="35763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Improve Satisfaction</a:t>
            </a:r>
          </a:p>
          <a:p>
            <a:pPr lvl="0" algn="ctr"/>
            <a:r>
              <a:rPr lang="en-IN" sz="2000" b="1" dirty="0"/>
              <a:t>Improve employee satisfaction through feedback, recognition, and career growth.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32F58-3A81-261F-233E-858D38E6DDDE}"/>
              </a:ext>
            </a:extLst>
          </p:cNvPr>
          <p:cNvSpPr txBox="1"/>
          <p:nvPr/>
        </p:nvSpPr>
        <p:spPr>
          <a:xfrm>
            <a:off x="4439920" y="283924"/>
            <a:ext cx="331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Recommendations</a:t>
            </a:r>
            <a:endParaRPr lang="en-IN" sz="2800" u="sn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DC1641-A0DD-1F05-7D81-D47E71EDDAA5}"/>
              </a:ext>
            </a:extLst>
          </p:cNvPr>
          <p:cNvSpPr/>
          <p:nvPr/>
        </p:nvSpPr>
        <p:spPr>
          <a:xfrm>
            <a:off x="7142480" y="1417320"/>
            <a:ext cx="3962400" cy="2133600"/>
          </a:xfrm>
          <a:prstGeom prst="rect">
            <a:avLst/>
          </a:prstGeom>
          <a:solidFill>
            <a:srgbClr val="AE8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738A4-682F-49F0-D9B1-BDCEBDFE5DBC}"/>
              </a:ext>
            </a:extLst>
          </p:cNvPr>
          <p:cNvSpPr txBox="1"/>
          <p:nvPr/>
        </p:nvSpPr>
        <p:spPr>
          <a:xfrm>
            <a:off x="7335520" y="1643855"/>
            <a:ext cx="35763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For Young Employees</a:t>
            </a:r>
          </a:p>
          <a:p>
            <a:pPr lvl="0" algn="ctr"/>
            <a:r>
              <a:rPr lang="en-IN" sz="2000" b="1" dirty="0"/>
              <a:t>Provide career development and mentorship opportunities for younger employees.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D4D89A-09D3-3BF1-E340-A72B4F7914DC}"/>
              </a:ext>
            </a:extLst>
          </p:cNvPr>
          <p:cNvSpPr/>
          <p:nvPr/>
        </p:nvSpPr>
        <p:spPr>
          <a:xfrm>
            <a:off x="7142480" y="4373880"/>
            <a:ext cx="3962400" cy="2133600"/>
          </a:xfrm>
          <a:prstGeom prst="rect">
            <a:avLst/>
          </a:prstGeom>
          <a:solidFill>
            <a:srgbClr val="AE8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66729-0C15-444C-ED2A-A030F70F6C81}"/>
              </a:ext>
            </a:extLst>
          </p:cNvPr>
          <p:cNvSpPr/>
          <p:nvPr/>
        </p:nvSpPr>
        <p:spPr>
          <a:xfrm>
            <a:off x="939800" y="4373880"/>
            <a:ext cx="3962400" cy="2133600"/>
          </a:xfrm>
          <a:prstGeom prst="rect">
            <a:avLst/>
          </a:prstGeom>
          <a:solidFill>
            <a:srgbClr val="AE8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AC6BD-813E-BBA3-4AB3-C2419D9C6004}"/>
              </a:ext>
            </a:extLst>
          </p:cNvPr>
          <p:cNvSpPr txBox="1"/>
          <p:nvPr/>
        </p:nvSpPr>
        <p:spPr>
          <a:xfrm>
            <a:off x="1087120" y="4748184"/>
            <a:ext cx="3576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For Young Employees</a:t>
            </a:r>
          </a:p>
          <a:p>
            <a:pPr lvl="0" algn="ctr"/>
            <a:r>
              <a:rPr lang="en-IN" sz="2000" b="1" dirty="0"/>
              <a:t>Review compensation for lower-income and high-attrition employee groups.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264F8-1045-5D33-C33A-26BFE198DCA7}"/>
              </a:ext>
            </a:extLst>
          </p:cNvPr>
          <p:cNvSpPr txBox="1"/>
          <p:nvPr/>
        </p:nvSpPr>
        <p:spPr>
          <a:xfrm>
            <a:off x="7335520" y="4748183"/>
            <a:ext cx="3576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For Young Employees</a:t>
            </a:r>
          </a:p>
          <a:p>
            <a:pPr lvl="0" algn="ctr"/>
            <a:r>
              <a:rPr lang="en-IN" sz="2000" b="1" dirty="0"/>
              <a:t>Consider flexible work options for employees with longer commutes. </a:t>
            </a:r>
          </a:p>
        </p:txBody>
      </p:sp>
    </p:spTree>
    <p:extLst>
      <p:ext uri="{BB962C8B-B14F-4D97-AF65-F5344CB8AC3E}">
        <p14:creationId xmlns:p14="http://schemas.microsoft.com/office/powerpoint/2010/main" val="339327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E430-5639-87E3-1786-F8A827E2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AF6F7-4F86-6BC8-69CD-48B173AD379C}"/>
              </a:ext>
            </a:extLst>
          </p:cNvPr>
          <p:cNvSpPr txBox="1"/>
          <p:nvPr/>
        </p:nvSpPr>
        <p:spPr>
          <a:xfrm>
            <a:off x="228600" y="1293336"/>
            <a:ext cx="11734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Employee attrition varies across key employee characteristics.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 Lower job satisfaction and monthly income are associated with higher attrition.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Younger employees and employees living farther from the workplace show relatively higher attrition.</a:t>
            </a:r>
          </a:p>
          <a:p>
            <a:pPr algn="ctr"/>
            <a:endParaRPr lang="en-IN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 Attrition varies across departments, highlighting areas that require further investigation.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ctr"/>
            <a:r>
              <a:rPr lang="en-IN" sz="2400" dirty="0"/>
              <a:t>___________________________________________</a:t>
            </a:r>
          </a:p>
          <a:p>
            <a:pPr algn="ctr"/>
            <a:endParaRPr lang="en-IN" sz="2400" dirty="0"/>
          </a:p>
          <a:p>
            <a:pPr algn="ctr"/>
            <a:r>
              <a:rPr lang="en-IN" sz="2400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8508A-2DAB-09B4-F1FA-9FE6FEBD857F}"/>
              </a:ext>
            </a:extLst>
          </p:cNvPr>
          <p:cNvSpPr txBox="1"/>
          <p:nvPr/>
        </p:nvSpPr>
        <p:spPr>
          <a:xfrm>
            <a:off x="5010198" y="332750"/>
            <a:ext cx="2171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Aptos" panose="020B0004020202020204" pitchFamily="34" charset="0"/>
                <a:cs typeface="Poppins SemiBold" panose="00000700000000000000" pitchFamily="2" charset="0"/>
              </a:rPr>
              <a:t>Conclusion</a:t>
            </a:r>
            <a:endParaRPr lang="en-IN" sz="2800" b="1" u="sng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90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282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Poppins Medium</vt:lpstr>
      <vt:lpstr>Poppins SemiBold</vt:lpstr>
      <vt:lpstr>Office Theme</vt:lpstr>
      <vt:lpstr>HR Employee Attrition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Bisht</dc:creator>
  <cp:lastModifiedBy>Utkarsh Bisht</cp:lastModifiedBy>
  <cp:revision>1</cp:revision>
  <dcterms:created xsi:type="dcterms:W3CDTF">2026-08-09T08:09:28Z</dcterms:created>
  <dcterms:modified xsi:type="dcterms:W3CDTF">2026-08-09T09:23:08Z</dcterms:modified>
</cp:coreProperties>
</file>